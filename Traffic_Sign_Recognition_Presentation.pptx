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/ title. 10-second intro: what the project is and what you'll cover -- demand, method, future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demand section. Keep this to ~45 seconds: road safety, industry trend, local 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the task precisely, then land on the dataset stats. Quick slide, ~30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 imbalance found, but moderate -- explain the WeightedRandomSampler decision. ~35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leakage-prevention story: finding, risk, decision. Emphasize this shaped stage 4 entirely. ~40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pipeline slide -- each bullet's justification is the point, not the pipeline itself. ~35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pivotal slide -- the stat that redirected the whole project. Give it real time, ~60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ResNet18 over a deeper from-scratch CNN, then reveal the accuracy jump. ~45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payoff slide. Let the chart do the talking -- pause here. ~40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numbers, and the honest 'why the high number is trustworthy' point. ~35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bot mockup, mention it's verified live on Telegram with real photos. ~35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vision slide -- let the picture carry it. Explain: continuous video, not single photos; categorized by rule type in real time. ~50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and 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2011680"/>
            <a:ext cx="2926080" cy="2926080"/>
          </a:xfrm>
          <a:prstGeom prst="ellipse">
            <a:avLst/>
          </a:prstGeom>
          <a:solidFill>
            <a:srgbClr val="2E4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920240" y="6035040"/>
            <a:ext cx="2377440" cy="2377440"/>
          </a:xfrm>
          <a:prstGeom prst="ellipse">
            <a:avLst/>
          </a:prstGeom>
          <a:solidFill>
            <a:srgbClr val="2E4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07227" y="1760220"/>
            <a:ext cx="777240" cy="77724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07227" y="1760220"/>
            <a:ext cx="777240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80360"/>
            <a:ext cx="94457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Traffic Sign Recognition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94760"/>
            <a:ext cx="94457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A9D6E5"/>
                </a:solidFill>
                <a:latin typeface="Calibri"/>
              </a:rPr>
              <a:t>From Raw Data to a Real-Time Driving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85216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9AA5B1"/>
                </a:solidFill>
                <a:latin typeface="Calibri"/>
              </a:rPr>
              <a:t>Bekzod Boboev  ·  AI/ML Fundamentals 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08660" y="617219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8660" y="617219"/>
            <a:ext cx="50292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66928"/>
            <a:ext cx="9875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B2A4A"/>
                </a:solidFill>
                <a:latin typeface="Cambria"/>
              </a:rPr>
              <a:t>Why This Matters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187452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20"/>
            <a:ext cx="548640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828800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B2A4A"/>
                </a:solidFill>
                <a:latin typeface="Cambria"/>
              </a:rPr>
              <a:t>Roads Are Getting Busier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240280"/>
            <a:ext cx="8961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5A6678"/>
                </a:solidFill>
                <a:latin typeface="Calibri"/>
              </a:rPr>
              <a:t>Tashkent traffic and complex intersections are the new normal. Faded paint, dust, poor lighting, and driver fatigue all make signs harder to read reliably.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38328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548640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337560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B2A4A"/>
                </a:solidFill>
                <a:latin typeface="Cambria"/>
              </a:rPr>
              <a:t>The Industry Is Already Moving This 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749039"/>
            <a:ext cx="8961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5A6678"/>
                </a:solidFill>
                <a:latin typeface="Calibri"/>
              </a:rPr>
              <a:t>Driver-assistance features increasingly rely on exactly this kind of on-road visual perception — this project applies the same idea locally.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489204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892040"/>
            <a:ext cx="548640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846320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B2A4A"/>
                </a:solidFill>
                <a:latin typeface="Cambria"/>
              </a:rPr>
              <a:t>Built For Local Roads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257800"/>
            <a:ext cx="8961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5A6678"/>
                </a:solidFill>
                <a:latin typeface="Calibri"/>
              </a:rPr>
              <a:t>Uzbekistan's smart-city and digitalization push needs systems trained on local signage and driving conditions, not just models built elsewhere.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08660" y="617219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8660" y="617219"/>
            <a:ext cx="50292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66928"/>
            <a:ext cx="9875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B2A4A"/>
                </a:solidFill>
                <a:latin typeface="Cambria"/>
              </a:rPr>
              <a:t>The Task, and the Data Behind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74519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Cambria"/>
              </a:rPr>
              <a:t>Input: a photograph of a traffic sign.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Cambria"/>
              </a:rPr>
              <a:t>Output: which of 200 known sign types it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46120"/>
            <a:ext cx="51206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i="0">
                <a:solidFill>
                  <a:srgbClr val="5A6678"/>
                </a:solidFill>
                <a:latin typeface="Calibri"/>
              </a:rPr>
              <a:t>Source: a public Kaggle dataset of traffic signs from post-Soviet states — chosen because it matches the signage actually used on local roads.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i="0">
                <a:solidFill>
                  <a:srgbClr val="5A6678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i="0">
                <a:solidFill>
                  <a:srgbClr val="5A6678"/>
                </a:solidFill>
                <a:latin typeface="Calibri"/>
              </a:rPr>
              <a:t>The whole project, from raw files to a working demo, was built stage by stage: audit the data, prepare it carefully, train a baseline, improve it with evidence, then deploy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2103120"/>
            <a:ext cx="1417320" cy="13716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331720"/>
            <a:ext cx="1417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mbria"/>
              </a:rPr>
              <a:t>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9712" y="2971800"/>
            <a:ext cx="1271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A9D6E5"/>
                </a:solidFill>
                <a:latin typeface="Calibri"/>
              </a:rPr>
              <a:t>SIGN CLASSES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103120"/>
            <a:ext cx="1417320" cy="13716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331720"/>
            <a:ext cx="1417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mbria"/>
              </a:rPr>
              <a:t>116,642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971800"/>
            <a:ext cx="1271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A9D6E5"/>
                </a:solidFill>
                <a:latin typeface="Calibri"/>
              </a:rPr>
              <a:t>IMAGES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2103120"/>
            <a:ext cx="1417320" cy="13716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2331720"/>
            <a:ext cx="1417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mbria"/>
              </a:rPr>
              <a:t>14.9 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31552" y="2971800"/>
            <a:ext cx="12710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A9D6E5"/>
                </a:solidFill>
                <a:latin typeface="Calibri"/>
              </a:rPr>
              <a:t>RAW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08660" y="617219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8660" y="617219"/>
            <a:ext cx="50292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66928"/>
            <a:ext cx="9875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B2A4A"/>
                </a:solidFill>
                <a:latin typeface="Cambria"/>
              </a:rPr>
              <a:t>Step 1 — Audit the Data Before Touching the Model</a:t>
            </a:r>
          </a:p>
        </p:txBody>
      </p:sp>
      <p:pic>
        <p:nvPicPr>
          <p:cNvPr id="6" name="Picture 5" descr="deck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12771"/>
            <a:ext cx="7040880" cy="33639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8160" y="1920240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E63946"/>
                </a:solidFill>
                <a:latin typeface="Cambria"/>
              </a:rPr>
              <a:t>248 – 1,845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51460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A6678"/>
                </a:solidFill>
                <a:latin typeface="Calibri"/>
              </a:rPr>
              <a:t>images per class — mean 583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200400"/>
            <a:ext cx="3566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1B2A4A"/>
                </a:solidFill>
                <a:latin typeface="Calibri"/>
              </a:rPr>
              <a:t>Real, but moderate imbalance — no class had only a handful of images.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1B2A4A"/>
                </a:solidFill>
                <a:latin typeface="Calibri"/>
              </a:rPr>
              <a:t>Decision: a weighted sampler plus light augmentation would be enough. No need for drastic measures.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08660" y="617219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8660" y="617219"/>
            <a:ext cx="50292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66928"/>
            <a:ext cx="9875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B2A4A"/>
                </a:solidFill>
                <a:latin typeface="Cambria"/>
              </a:rPr>
              <a:t>A Critical Catch: Data Leakage 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103120"/>
            <a:ext cx="3429000" cy="329184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37744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926080"/>
            <a:ext cx="28803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D6E5"/>
                </a:solidFill>
                <a:latin typeface="Calibri"/>
              </a:rPr>
              <a:t>Filenames suggested many images are near-duplicate photos of the same physical sign — confirmed for ~10% of files; the rest use other naming patterns.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18888" y="3383280"/>
            <a:ext cx="3383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9AA5B1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2103120"/>
            <a:ext cx="3429000" cy="329184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59" y="237744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59" y="2926080"/>
            <a:ext cx="28803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D6E5"/>
                </a:solidFill>
                <a:latin typeface="Calibri"/>
              </a:rPr>
              <a:t>Near-identical photos could end up split across train / validation / test, quietly inflating accuracy without real generalization.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67928" y="3383280"/>
            <a:ext cx="3383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9AA5B1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2103120"/>
            <a:ext cx="3429000" cy="3291840"/>
          </a:xfrm>
          <a:prstGeom prst="roundRect">
            <a:avLst>
              <a:gd name="adj" fmla="val 6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37744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926080"/>
            <a:ext cx="28803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Use perceptual image hashing across the whole dataset, then split by duplicate group — never by individual image.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08660" y="617219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8660" y="617219"/>
            <a:ext cx="50292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66928"/>
            <a:ext cx="9875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B2A4A"/>
                </a:solidFill>
                <a:latin typeface="Cambria"/>
              </a:rPr>
              <a:t>Preprocessing: Every Choice Traces to a Finding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1901952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01952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874519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B2A4A"/>
                </a:solidFill>
                <a:latin typeface="Cambria"/>
              </a:rPr>
              <a:t>64×64 Letterbox Resize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240279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5A6678"/>
                </a:solidFill>
                <a:latin typeface="Calibri"/>
              </a:rPr>
              <a:t>Padded to a square, not stretched — the audit found a real aspect-ratio tail (thin plates up to 5.9:1).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2953511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953511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926079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B2A4A"/>
                </a:solidFill>
                <a:latin typeface="Cambria"/>
              </a:rPr>
              <a:t>RGBA → RGB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291839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5A6678"/>
                </a:solidFill>
                <a:latin typeface="Calibri"/>
              </a:rPr>
              <a:t>The audit found the dataset was majority RGBA — every image needed flattening before training.</a:t>
            </a:r>
          </a:p>
        </p:txBody>
      </p:sp>
      <p:sp>
        <p:nvSpPr>
          <p:cNvPr id="14" name="Oval 13"/>
          <p:cNvSpPr/>
          <p:nvPr/>
        </p:nvSpPr>
        <p:spPr>
          <a:xfrm>
            <a:off x="1143000" y="4005072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005072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977639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B2A4A"/>
                </a:solidFill>
                <a:latin typeface="Cambria"/>
              </a:rPr>
              <a:t>ImageNet Normalization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34340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5A6678"/>
                </a:solidFill>
                <a:latin typeface="Calibri"/>
              </a:rPr>
              <a:t>Chosen early, deliberately — kept the door open for a pretrained backbone later (this paid off directly).</a:t>
            </a:r>
          </a:p>
        </p:txBody>
      </p:sp>
      <p:sp>
        <p:nvSpPr>
          <p:cNvPr id="18" name="Oval 17"/>
          <p:cNvSpPr/>
          <p:nvPr/>
        </p:nvSpPr>
        <p:spPr>
          <a:xfrm>
            <a:off x="1143000" y="5056632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056632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5029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B2A4A"/>
                </a:solidFill>
                <a:latin typeface="Cambria"/>
              </a:rPr>
              <a:t>Weighted Sampling + Light Augmentation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3949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5A6678"/>
                </a:solidFill>
                <a:latin typeface="Calibri"/>
              </a:rPr>
              <a:t>A modest, targeted response to the moderate class imbalance found in the audit.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08660" y="617219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8660" y="617219"/>
            <a:ext cx="50292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66928"/>
            <a:ext cx="9875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B2A4A"/>
                </a:solidFill>
                <a:latin typeface="Cambria"/>
              </a:rPr>
              <a:t>The Baseline Model: A Surprising Finding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4206240" cy="196596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011680"/>
            <a:ext cx="3840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Cambria"/>
              </a:rPr>
              <a:t>87.84%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880360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A9D6E5"/>
                </a:solidFill>
                <a:latin typeface="Calibri"/>
              </a:rPr>
              <a:t>baseline validation accuracy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A9D6E5"/>
                </a:solidFill>
                <a:latin typeface="Calibri"/>
              </a:rPr>
              <a:t>(3-block CNN, from scratch)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828800"/>
            <a:ext cx="4937760" cy="1965960"/>
          </a:xfrm>
          <a:prstGeom prst="roundRect">
            <a:avLst>
              <a:gd name="adj" fmla="val 8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20116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Cambria"/>
              </a:rPr>
              <a:t>−0.124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88036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correlation: class size vs. accuracy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→ imbalance was NOT 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14800"/>
            <a:ext cx="94183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1B2A4A"/>
                </a:solidFill>
                <a:latin typeface="Calibri"/>
              </a:rPr>
              <a:t>So what was? The confusion matrix showed a clear pattern: specific, systematic confusion between visually similar sign pairs — not scattered random error.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1B2A4A"/>
                </a:solidFill>
                <a:latin typeface="Calibri"/>
              </a:rPr>
              <a:t>The single biggest error: “Method of parking” confused with “Dangerous roadside”, 122 times — more than any other mistake in the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08660" y="617219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8660" y="617219"/>
            <a:ext cx="50292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66928"/>
            <a:ext cx="9875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B2A4A"/>
                </a:solidFill>
                <a:latin typeface="Cambria"/>
              </a:rPr>
              <a:t>The Fix: A Pretrained Backbone, Not a Bigger CNN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83080"/>
            <a:ext cx="50292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>
                <a:solidFill>
                  <a:srgbClr val="1B2A4A"/>
                </a:solidFill>
                <a:latin typeface="Calibri"/>
              </a:rPr>
              <a:t>The baseline's weakness was fine-grained visual discrimination — not raw model size.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>
                <a:solidFill>
                  <a:srgbClr val="1B2A4A"/>
                </a:solidFill>
                <a:latin typeface="Calibri"/>
              </a:rPr>
              <a:t>A ResNet18 pretrained on ~1.4 million photos brings far richer visual features than a small CNN trained only on this one dataset.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0">
                <a:solidFill>
                  <a:srgbClr val="1B2A4A"/>
                </a:solidFill>
                <a:latin typeface="Calibri"/>
              </a:rPr>
              <a:t>Everything else — pipeline, split, batch size, 15 epochs — was kept identical to the baseline, so this is a clean, single-variable comparison.</a:t>
            </a:r>
          </a:p>
        </p:txBody>
      </p:sp>
      <p:pic>
        <p:nvPicPr>
          <p:cNvPr id="7" name="Picture 6" descr="deck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16760"/>
            <a:ext cx="5120640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08660" y="617219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8660" y="617219"/>
            <a:ext cx="50292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66928"/>
            <a:ext cx="9875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B2A4A"/>
                </a:solidFill>
                <a:latin typeface="Cambria"/>
              </a:rPr>
              <a:t>Did It Fix the Exact Problems We Found?</a:t>
            </a:r>
          </a:p>
        </p:txBody>
      </p:sp>
      <p:pic>
        <p:nvPicPr>
          <p:cNvPr id="6" name="Picture 5" descr="deck_confusion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86384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0" y="2103120"/>
            <a:ext cx="25603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Every confusion flagged earlier collapsed to near zero — including the single biggest baseline error.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Calibri"/>
              </a:rPr>
              <a:t>This is targeted evidence, not a generic accuracy bump.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08660" y="617219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8660" y="617219"/>
            <a:ext cx="50292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66928"/>
            <a:ext cx="9875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B2A4A"/>
                </a:solidFill>
                <a:latin typeface="Cambria"/>
              </a:rPr>
              <a:t>Final, Held-Out Test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920240"/>
            <a:ext cx="3246120" cy="2103120"/>
          </a:xfrm>
          <a:prstGeom prst="roundRect">
            <a:avLst>
              <a:gd name="adj" fmla="val 9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99.37%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200400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TEST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920240"/>
            <a:ext cx="3246120" cy="2103120"/>
          </a:xfrm>
          <a:prstGeom prst="roundRect">
            <a:avLst>
              <a:gd name="adj" fmla="val 9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219456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99.4%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3200400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A9D6E5"/>
                </a:solidFill>
                <a:latin typeface="Calibri"/>
              </a:rPr>
              <a:t>MACRO F1-SCORE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920240"/>
            <a:ext cx="3246120" cy="2103120"/>
          </a:xfrm>
          <a:prstGeom prst="roundRect">
            <a:avLst>
              <a:gd name="adj" fmla="val 9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19456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88.5%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59" y="3200400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A9D6E5"/>
                </a:solidFill>
                <a:latin typeface="Calibri"/>
              </a:rPr>
              <a:t>WORST-CLASS ACC.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A9D6E5"/>
                </a:solidFill>
                <a:latin typeface="Calibri"/>
              </a:rPr>
              <a:t>(was 17.9%)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343400"/>
            <a:ext cx="9418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5A6678"/>
                </a:solidFill>
                <a:latin typeface="Calibri"/>
              </a:rPr>
              <a:t>Test accuracy came in slightly above validation accuracy — a good sign that comparing experiments never overfit the model to the validation set. Evaluated exactly once, only after the model was already chosen.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08660" y="617219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8660" y="617219"/>
            <a:ext cx="50292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66928"/>
            <a:ext cx="9875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B2A4A"/>
                </a:solidFill>
                <a:latin typeface="Cambria"/>
              </a:rPr>
              <a:t>From Model to Product: A Telegram Bot</a:t>
            </a:r>
          </a:p>
        </p:txBody>
      </p:sp>
      <p:sp>
        <p:nvSpPr>
          <p:cNvPr id="6" name="Oval 5"/>
          <p:cNvSpPr/>
          <p:nvPr/>
        </p:nvSpPr>
        <p:spPr>
          <a:xfrm>
            <a:off x="1120140" y="194310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0140" y="1943100"/>
            <a:ext cx="50292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920240"/>
            <a:ext cx="5394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1B2A4A"/>
                </a:solidFill>
                <a:latin typeface="Calibri"/>
              </a:rPr>
              <a:t>User sends a photo of a sign to the bot</a:t>
            </a:r>
          </a:p>
        </p:txBody>
      </p:sp>
      <p:sp>
        <p:nvSpPr>
          <p:cNvPr id="9" name="Oval 8"/>
          <p:cNvSpPr/>
          <p:nvPr/>
        </p:nvSpPr>
        <p:spPr>
          <a:xfrm>
            <a:off x="1120140" y="29946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0140" y="2994660"/>
            <a:ext cx="50292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971800"/>
            <a:ext cx="5394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1B2A4A"/>
                </a:solidFill>
                <a:latin typeface="Calibri"/>
              </a:rPr>
              <a:t>Model predicts the sign, entirely on CPU — no GPU needed</a:t>
            </a:r>
          </a:p>
        </p:txBody>
      </p:sp>
      <p:sp>
        <p:nvSpPr>
          <p:cNvPr id="12" name="Oval 11"/>
          <p:cNvSpPr/>
          <p:nvPr/>
        </p:nvSpPr>
        <p:spPr>
          <a:xfrm>
            <a:off x="1120140" y="404622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0140" y="4046220"/>
            <a:ext cx="50292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4023360"/>
            <a:ext cx="5394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1B2A4A"/>
                </a:solidFill>
                <a:latin typeface="Calibri"/>
              </a:rPr>
              <a:t>Bot replies with: sign name, category (mandatory / warning / info / …), confidence, and a clean reference picture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645920"/>
            <a:ext cx="3108960" cy="4572000"/>
          </a:xfrm>
          <a:prstGeom prst="roundRect">
            <a:avLst>
              <a:gd name="adj" fmla="val 6000"/>
            </a:avLst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03920" y="1874519"/>
            <a:ext cx="2560320" cy="1691640"/>
          </a:xfrm>
          <a:prstGeom prst="roundRect">
            <a:avLst>
              <a:gd name="adj" fmla="val 10000"/>
            </a:avLst>
          </a:prstGeom>
          <a:solidFill>
            <a:srgbClr val="2E4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ample_photo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1986" y="1984248"/>
            <a:ext cx="1504188" cy="1472184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503920" y="3703320"/>
            <a:ext cx="2560320" cy="2331720"/>
          </a:xfrm>
          <a:prstGeom prst="roundRect">
            <a:avLst>
              <a:gd name="adj" fmla="val 1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0" y="3886200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952" y="3959352"/>
            <a:ext cx="768096" cy="76809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738360" y="3913632"/>
            <a:ext cx="12344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Priority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road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937760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Category: Priority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Confidence: 99.8%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08660" y="617219"/>
            <a:ext cx="502920" cy="50292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8660" y="617219"/>
            <a:ext cx="50292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66928"/>
            <a:ext cx="9875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What's Next: Photos → Real-Time Video</a:t>
            </a:r>
          </a:p>
        </p:txBody>
      </p:sp>
      <p:pic>
        <p:nvPicPr>
          <p:cNvPr id="6" name="Picture 5" descr="future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976" y="1600200"/>
            <a:ext cx="7381567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8978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A9D6E5"/>
                </a:solidFill>
                <a:latin typeface="Calibri"/>
              </a:rPr>
              <a:t>A dash-cam-style device, watching the road continuously, telling the driver which rule is active right now.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" y="-1645920"/>
            <a:ext cx="2377440" cy="2377440"/>
          </a:xfrm>
          <a:prstGeom prst="ellipse">
            <a:avLst/>
          </a:prstGeom>
          <a:solidFill>
            <a:srgbClr val="2E4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6035040"/>
            <a:ext cx="2560320" cy="2560320"/>
          </a:xfrm>
          <a:prstGeom prst="ellipse">
            <a:avLst/>
          </a:prstGeom>
          <a:solidFill>
            <a:srgbClr val="2E42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07227" y="2263140"/>
            <a:ext cx="777240" cy="77724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07227" y="2263140"/>
            <a:ext cx="777240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29000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9445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A9D6E5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